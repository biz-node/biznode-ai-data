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3" r:id="rId2"/>
    <p:sldId id="376" r:id="rId3"/>
    <p:sldId id="315" r:id="rId4"/>
    <p:sldId id="318" r:id="rId5"/>
    <p:sldId id="317" r:id="rId6"/>
    <p:sldId id="375" r:id="rId7"/>
    <p:sldId id="322" r:id="rId8"/>
    <p:sldId id="365" r:id="rId9"/>
    <p:sldId id="326" r:id="rId10"/>
    <p:sldId id="320" r:id="rId11"/>
    <p:sldId id="324" r:id="rId12"/>
    <p:sldId id="323" r:id="rId13"/>
    <p:sldId id="371" r:id="rId14"/>
    <p:sldId id="325" r:id="rId15"/>
    <p:sldId id="309" r:id="rId16"/>
    <p:sldId id="367" r:id="rId17"/>
    <p:sldId id="368" r:id="rId18"/>
    <p:sldId id="328" r:id="rId19"/>
    <p:sldId id="329" r:id="rId20"/>
    <p:sldId id="369" r:id="rId21"/>
    <p:sldId id="352" r:id="rId22"/>
    <p:sldId id="353" r:id="rId23"/>
    <p:sldId id="336" r:id="rId24"/>
    <p:sldId id="332" r:id="rId25"/>
    <p:sldId id="372" r:id="rId26"/>
    <p:sldId id="339" r:id="rId27"/>
    <p:sldId id="370" r:id="rId28"/>
    <p:sldId id="358" r:id="rId29"/>
    <p:sldId id="374" r:id="rId30"/>
    <p:sldId id="287" r:id="rId31"/>
    <p:sldId id="361" r:id="rId32"/>
    <p:sldId id="362" r:id="rId33"/>
    <p:sldId id="360" r:id="rId34"/>
    <p:sldId id="364" r:id="rId35"/>
    <p:sldId id="294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263"/>
            <p14:sldId id="376"/>
            <p14:sldId id="315"/>
            <p14:sldId id="318"/>
            <p14:sldId id="317"/>
            <p14:sldId id="375"/>
            <p14:sldId id="322"/>
            <p14:sldId id="365"/>
            <p14:sldId id="326"/>
            <p14:sldId id="320"/>
            <p14:sldId id="324"/>
            <p14:sldId id="323"/>
            <p14:sldId id="371"/>
            <p14:sldId id="325"/>
            <p14:sldId id="309"/>
            <p14:sldId id="367"/>
            <p14:sldId id="368"/>
            <p14:sldId id="328"/>
            <p14:sldId id="329"/>
            <p14:sldId id="369"/>
          </p14:sldIdLst>
        </p14:section>
        <p14:section name="설계단계" id="{079FB007-4044-4E60-AD09-4E9512A5438F}">
          <p14:sldIdLst>
            <p14:sldId id="352"/>
            <p14:sldId id="353"/>
            <p14:sldId id="336"/>
            <p14:sldId id="332"/>
            <p14:sldId id="372"/>
            <p14:sldId id="339"/>
            <p14:sldId id="370"/>
            <p14:sldId id="358"/>
            <p14:sldId id="374"/>
            <p14:sldId id="287"/>
            <p14:sldId id="361"/>
            <p14:sldId id="362"/>
            <p14:sldId id="360"/>
            <p14:sldId id="364"/>
            <p14:sldId id="294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AA8"/>
    <a:srgbClr val="003399"/>
    <a:srgbClr val="77787B"/>
    <a:srgbClr val="C40452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8" autoAdjust="0"/>
    <p:restoredTop sz="94766" autoAdjust="0"/>
  </p:normalViewPr>
  <p:slideViewPr>
    <p:cSldViewPr>
      <p:cViewPr>
        <p:scale>
          <a:sx n="100" d="100"/>
          <a:sy n="100" d="100"/>
        </p:scale>
        <p:origin x="-49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688" y="3933056"/>
            <a:ext cx="6389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>
                <a:solidFill>
                  <a:srgbClr val="77787B"/>
                </a:solidFill>
              </a:rPr>
              <a:t>프로젝트 명 </a:t>
            </a:r>
            <a:r>
              <a:rPr lang="en-US" altLang="ko-KR" sz="2400" b="1" spc="-150" dirty="0">
                <a:solidFill>
                  <a:srgbClr val="77787B"/>
                </a:solidFill>
              </a:rPr>
              <a:t>:</a:t>
            </a:r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2026. 00. 00</a:t>
            </a:r>
          </a:p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팀명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</a:rPr>
              <a:t>*</a:t>
            </a:r>
            <a:r>
              <a:rPr lang="ko-KR" altLang="en-US" sz="1600" i="1" dirty="0">
                <a:solidFill>
                  <a:srgbClr val="FF0000"/>
                </a:solidFill>
                <a:latin typeface="+mn-ea"/>
              </a:rPr>
              <a:t>팀원 이름 및 소속 본문 내 기입 불가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72977"/>
              </p:ext>
            </p:extLst>
          </p:nvPr>
        </p:nvGraphicFramePr>
        <p:xfrm>
          <a:off x="1115616" y="1340768"/>
          <a:ext cx="7416824" cy="49822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681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2014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014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2014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5006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smtClean="0">
                          <a:effectLst/>
                        </a:rPr>
                        <a:t>단계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일반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소프트웨어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하드웨어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54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모바일</a:t>
                      </a:r>
                      <a:r>
                        <a:rPr lang="ko-KR" altLang="en-US" sz="700" b="1" kern="0" spc="0" dirty="0">
                          <a:effectLst/>
                        </a:rPr>
                        <a:t> </a:t>
                      </a:r>
                      <a:r>
                        <a:rPr lang="en-US" sz="700" b="1" kern="0" spc="0" dirty="0">
                          <a:effectLst/>
                        </a:rPr>
                        <a:t>APP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∙Web </a:t>
                      </a:r>
                      <a:r>
                        <a:rPr lang="ko-KR" altLang="en-US" sz="700" b="1" kern="0" spc="0" dirty="0">
                          <a:effectLst/>
                        </a:rPr>
                        <a:t>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빅데이터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∙인공지능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∙블록체인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en-US" sz="700" b="1" kern="0" spc="0" dirty="0" err="1">
                          <a:effectLst/>
                        </a:rPr>
                        <a:t>IoT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>
                          <a:effectLst/>
                        </a:rPr>
                        <a:t>로봇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700" b="1" kern="0" spc="0" dirty="0">
                          <a:effectLst/>
                        </a:rPr>
                        <a:t>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시장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0059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8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▲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▲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▲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1963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UI/UX </a:t>
                      </a:r>
                      <a:r>
                        <a:rPr lang="ko-KR" altLang="en-US" sz="8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0059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8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기능 처리도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기능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effectLst/>
                        </a:rPr>
                        <a:t>-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핵심 소스코드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971600" y="6453336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187624" y="6453336"/>
            <a:ext cx="34563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3BC4D7AA-F265-3F3C-6AB0-3B33EB51F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1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6" y="1369871"/>
            <a:ext cx="7876108" cy="4699490"/>
          </a:xfrm>
          <a:prstGeom prst="rect">
            <a:avLst/>
          </a:prstGeom>
        </p:spPr>
      </p:pic>
      <p:sp>
        <p:nvSpPr>
          <p:cNvPr id="13" name="사각형: 둥근 모서리 26">
            <a:extLst>
              <a:ext uri="{FF2B5EF4-FFF2-40B4-BE49-F238E27FC236}">
                <a16:creationId xmlns="" xmlns:a16="http://schemas.microsoft.com/office/drawing/2014/main" id="{5F831BA6-A20F-F81D-586A-9D7C662D49C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FD9BD14-5E4D-57FD-89CE-3B280C6F5E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9836"/>
            <a:ext cx="4104455" cy="409141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147" y="1569836"/>
            <a:ext cx="4141366" cy="409141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="" xmlns:a16="http://schemas.microsoft.com/office/drawing/2014/main" id="{93A78A9F-A53B-078D-A070-1A896BBCF499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1897D5E3-15C7-56ED-CEC0-12574C1187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설문조사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3" y="1484783"/>
            <a:ext cx="4349925" cy="218234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421752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6" y="2180524"/>
            <a:ext cx="4163306" cy="309942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34" y="3667125"/>
            <a:ext cx="2304256" cy="161281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623" y="4458880"/>
            <a:ext cx="2346998" cy="1356107"/>
          </a:xfrm>
          <a:prstGeom prst="rect">
            <a:avLst/>
          </a:prstGeom>
        </p:spPr>
      </p:pic>
      <p:sp>
        <p:nvSpPr>
          <p:cNvPr id="18" name="사각형: 둥근 모서리 26">
            <a:extLst>
              <a:ext uri="{FF2B5EF4-FFF2-40B4-BE49-F238E27FC236}">
                <a16:creationId xmlns="" xmlns:a16="http://schemas.microsoft.com/office/drawing/2014/main" id="{D3758987-0BC0-684F-4AF4-B4C105A000B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79F0CF4-64BE-BCC7-12EB-76396E8998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인터뷰 결과서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31" y="1532568"/>
            <a:ext cx="7667625" cy="445770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="" xmlns:a16="http://schemas.microsoft.com/office/drawing/2014/main" id="{2DF0AE9E-F6DB-52D5-BB01-F0AADFB7630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E726F08-621C-F598-2315-EC592084D5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7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79930"/>
            <a:ext cx="8568952" cy="274741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="" xmlns:a16="http://schemas.microsoft.com/office/drawing/2014/main" id="{D7E7AC30-E190-B6D3-6A1A-58C85F9CA9D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3CF9B27-209E-4B4C-E145-61BABD2FB7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4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51520" y="1268760"/>
          <a:ext cx="4320480" cy="4968554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399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4738">
                <a:tc rowSpan="1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 검색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식물 데이터를 사용자가 검색할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 식물 추가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비어 있는 하우스를 선택해 새로운 식물을 등록할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 식물 삭제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하우스에 저장되어 있는 식물을 선택해 삭제할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온도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온도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조도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조도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습도 상태보기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일주일 동안 누적된 식물의 습도 데이터를 그래프화하여 확인할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 테마 추천 받기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기능별 식물을 추천 받을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온도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내의 온도를 높이거나 낮출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08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조도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통해 하우스 내의 조도를 조절할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식물 습도 조절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식물에의 급수를 통해 하우스의 습도를 조절할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하우스 자동 제어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제어 모드를 선택해 식물에게 적절한 환경을 갖추도록 자동으로 제어되게 할 수 있다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779677" y="1268760"/>
          <a:ext cx="4112803" cy="4968551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45661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756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설명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1871">
                <a:tc rowSpan="8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H/W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물주기</a:t>
                      </a:r>
                    </a:p>
                  </a:txBody>
                  <a:tcPr marL="30996" marR="30996" marT="8570" marB="8570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펌프를 사용해 식물에게 물을 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 LED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키우기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LED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점등으로 식물에게 필요한 빛을 공급할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온도 올려주기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온도를 올려줄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온도 내려주기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온도를 내려줄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온도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온도 센서를 통해 하우스 내의 온도를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조도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조도 센서를 통해 하우스 내 식물이 받는 조도 값을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하우스 내의 습도 측정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습도 센서를 통해 식물 토양의 습도를 측정할 수 있다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872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웹 서버 연결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아두이노를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웹 서버와 연동하여 통신이 가능하고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각 센서들로부터 측정값을 받아온다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="" xmlns:a16="http://schemas.microsoft.com/office/drawing/2014/main" id="{5308C546-204D-9C4B-4A42-604F4857571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A9160C9-8525-855D-C463-DE9365D9D1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 err="1">
                <a:solidFill>
                  <a:schemeClr val="bg1"/>
                </a:solidFill>
                <a:latin typeface="+mn-ea"/>
                <a:cs typeface="+mj-cs"/>
              </a:rPr>
              <a:t>유즈케이스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224706"/>
            <a:ext cx="4733032" cy="405352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5322656"/>
            <a:ext cx="4760640" cy="90353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80" y="1664858"/>
            <a:ext cx="3577084" cy="3927202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="" xmlns:a16="http://schemas.microsoft.com/office/drawing/2014/main" id="{0CCF7A5A-0F78-F59F-AB55-9F586D8CE05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BC4210B5-DE3D-BEDD-7F7A-1ADA983C38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서비스에 대한 설명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717594"/>
            <a:ext cx="3429000" cy="358361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950" y="1803808"/>
            <a:ext cx="3886200" cy="3231174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="" xmlns:a16="http://schemas.microsoft.com/office/drawing/2014/main" id="{1CEA45D1-3FBE-EC55-EDD0-A521E315829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3933D433-4C85-3FC0-8312-51983F4397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6" name="제목 12">
            <a:extLst>
              <a:ext uri="{FF2B5EF4-FFF2-40B4-BE49-F238E27FC236}">
                <a16:creationId xmlns="" xmlns:a16="http://schemas.microsoft.com/office/drawing/2014/main" id="{B8E75E3E-5348-8445-0B71-B60C9997C32A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64" y="2204864"/>
            <a:ext cx="4205728" cy="27553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495" y="1627914"/>
            <a:ext cx="4144670" cy="4204593"/>
          </a:xfrm>
          <a:prstGeom prst="rect">
            <a:avLst/>
          </a:prstGeom>
        </p:spPr>
      </p:pic>
      <p:sp>
        <p:nvSpPr>
          <p:cNvPr id="17" name="사각형: 둥근 모서리 26">
            <a:extLst>
              <a:ext uri="{FF2B5EF4-FFF2-40B4-BE49-F238E27FC236}">
                <a16:creationId xmlns="" xmlns:a16="http://schemas.microsoft.com/office/drawing/2014/main" id="{9CECDA96-8474-0330-C800-3FA2DD8D9B06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C936516-FBAE-C149-F460-F5E58F9FA4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7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775262"/>
            <a:ext cx="4343150" cy="316590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3" y="1704102"/>
            <a:ext cx="4320480" cy="3525098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="" xmlns:a16="http://schemas.microsoft.com/office/drawing/2014/main" id="{50A13136-E365-7CF1-70D2-251F08E5468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4164917E-43BA-4BBD-57C7-35E84F7A60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8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 rot="5400000">
            <a:off x="-834231" y="3077394"/>
            <a:ext cx="4695825" cy="183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606060"/>
            </a:solidFill>
            <a:round/>
            <a:headEnd/>
            <a:tailEnd/>
          </a:ln>
          <a:effectLst>
            <a:outerShdw dist="38184" dir="2700000" algn="ctr" rotWithShape="0">
              <a:srgbClr val="BFBFBF"/>
            </a:outerShdw>
          </a:effectLst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ko-KR" altLang="en-US">
              <a:latin typeface="Arial" charset="0"/>
              <a:ea typeface="굴림" pitchFamily="48" charset="-127"/>
            </a:endParaRP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592138" y="1647850"/>
            <a:ext cx="1836737" cy="107950"/>
          </a:xfrm>
          <a:prstGeom prst="rect">
            <a:avLst/>
          </a:prstGeom>
          <a:solidFill>
            <a:srgbClr val="D9D9D9"/>
          </a:solidFill>
          <a:ln w="648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Status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92138" y="1758975"/>
            <a:ext cx="1836737" cy="244475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 b="1">
                <a:solidFill>
                  <a:srgbClr val="FFFFFF"/>
                </a:solidFill>
                <a:latin typeface="Trebuchet MS" pitchFamily="34" charset="0"/>
                <a:ea typeface="맑은 고딕" pitchFamily="50" charset="-127"/>
              </a:rPr>
              <a:t>간편가입</a:t>
            </a:r>
          </a:p>
        </p:txBody>
      </p:sp>
      <p:sp>
        <p:nvSpPr>
          <p:cNvPr id="33" name="AutoShape 4"/>
          <p:cNvSpPr>
            <a:spLocks noChangeArrowheads="1"/>
          </p:cNvSpPr>
          <p:nvPr/>
        </p:nvSpPr>
        <p:spPr bwMode="auto">
          <a:xfrm flipH="1">
            <a:off x="631825" y="1789137"/>
            <a:ext cx="295275" cy="165100"/>
          </a:xfrm>
          <a:prstGeom prst="homePlate">
            <a:avLst>
              <a:gd name="adj" fmla="val 50002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7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이전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95313" y="1997100"/>
            <a:ext cx="1836737" cy="25558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35" name="Group 6"/>
          <p:cNvGrpSpPr>
            <a:grpSpLocks/>
          </p:cNvGrpSpPr>
          <p:nvPr/>
        </p:nvGrpSpPr>
        <p:grpSpPr bwMode="auto">
          <a:xfrm>
            <a:off x="641350" y="2028850"/>
            <a:ext cx="1727200" cy="188912"/>
            <a:chOff x="494" y="1152"/>
            <a:chExt cx="1088" cy="119"/>
          </a:xfrm>
        </p:grpSpPr>
        <p:sp>
          <p:nvSpPr>
            <p:cNvPr id="36" name="AutoShape 7"/>
            <p:cNvSpPr>
              <a:spLocks noChangeArrowheads="1"/>
            </p:cNvSpPr>
            <p:nvPr/>
          </p:nvSpPr>
          <p:spPr bwMode="auto">
            <a:xfrm>
              <a:off x="494" y="1152"/>
              <a:ext cx="1088" cy="119"/>
            </a:xfrm>
            <a:prstGeom prst="roundRect">
              <a:avLst>
                <a:gd name="adj" fmla="val 16944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CBCBC"/>
                </a:gs>
              </a:gsLst>
              <a:lin ang="16200000" scaled="1"/>
            </a:gradFill>
            <a:ln w="9360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lIns="90000" tIns="46800" rIns="72000" bIns="46800" anchor="ctr"/>
            <a:lstStyle>
              <a:lvl1pPr marL="92075" indent="-90488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700">
                  <a:solidFill>
                    <a:srgbClr val="A6A6A6"/>
                  </a:solidFill>
                  <a:latin typeface="Trebuchet MS" pitchFamily="34" charset="0"/>
                  <a:ea typeface="맑은 고딕" pitchFamily="50" charset="-127"/>
                </a:rPr>
                <a:t>      </a:t>
              </a:r>
              <a:r>
                <a:rPr lang="ko-KR" altLang="ko-KR" sz="700">
                  <a:solidFill>
                    <a:srgbClr val="A6A6A6"/>
                  </a:solidFill>
                  <a:ea typeface="맑은 고딕" pitchFamily="50" charset="-127"/>
                </a:rPr>
                <a:t>간편</a:t>
              </a:r>
              <a:r>
                <a:rPr lang="en-US" altLang="ko-KR" sz="300">
                  <a:solidFill>
                    <a:srgbClr val="A6A6A6"/>
                  </a:solidFill>
                  <a:ea typeface="맑은 고딕" pitchFamily="50" charset="-127"/>
                </a:rPr>
                <a:t> </a:t>
              </a:r>
            </a:p>
          </p:txBody>
        </p:sp>
        <p:grpSp>
          <p:nvGrpSpPr>
            <p:cNvPr id="37" name="Group 8"/>
            <p:cNvGrpSpPr>
              <a:grpSpLocks/>
            </p:cNvGrpSpPr>
            <p:nvPr/>
          </p:nvGrpSpPr>
          <p:grpSpPr bwMode="auto">
            <a:xfrm>
              <a:off x="495" y="1158"/>
              <a:ext cx="362" cy="111"/>
              <a:chOff x="495" y="1158"/>
              <a:chExt cx="362" cy="111"/>
            </a:xfrm>
          </p:grpSpPr>
          <p:sp>
            <p:nvSpPr>
              <p:cNvPr id="42" name="AutoShape 9"/>
              <p:cNvSpPr>
                <a:spLocks noChangeArrowheads="1"/>
              </p:cNvSpPr>
              <p:nvPr/>
            </p:nvSpPr>
            <p:spPr bwMode="auto">
              <a:xfrm>
                <a:off x="495" y="1158"/>
                <a:ext cx="335" cy="111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ko-KR" altLang="ko-KR" sz="700">
                    <a:solidFill>
                      <a:srgbClr val="000000"/>
                    </a:solidFill>
                    <a:latin typeface="Trebuchet MS" pitchFamily="34" charset="0"/>
                    <a:ea typeface="맑은 고딕" pitchFamily="50" charset="-127"/>
                  </a:rPr>
                  <a:t>기본정보</a:t>
                </a:r>
              </a:p>
            </p:txBody>
          </p:sp>
          <p:sp>
            <p:nvSpPr>
              <p:cNvPr id="43" name="AutoShape 10"/>
              <p:cNvSpPr>
                <a:spLocks noChangeArrowheads="1"/>
              </p:cNvSpPr>
              <p:nvPr/>
            </p:nvSpPr>
            <p:spPr bwMode="auto">
              <a:xfrm>
                <a:off x="810" y="1158"/>
                <a:ext cx="47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>
              <a:off x="856" y="1152"/>
              <a:ext cx="0" cy="11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9" name="Group 12"/>
            <p:cNvGrpSpPr>
              <a:grpSpLocks/>
            </p:cNvGrpSpPr>
            <p:nvPr/>
          </p:nvGrpSpPr>
          <p:grpSpPr bwMode="auto">
            <a:xfrm>
              <a:off x="865" y="1152"/>
              <a:ext cx="363" cy="117"/>
              <a:chOff x="865" y="1152"/>
              <a:chExt cx="363" cy="117"/>
            </a:xfrm>
          </p:grpSpPr>
          <p:sp>
            <p:nvSpPr>
              <p:cNvPr id="40" name="AutoShape 13"/>
              <p:cNvSpPr>
                <a:spLocks noChangeArrowheads="1"/>
              </p:cNvSpPr>
              <p:nvPr/>
            </p:nvSpPr>
            <p:spPr bwMode="auto">
              <a:xfrm>
                <a:off x="865" y="1158"/>
                <a:ext cx="362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85DFFF"/>
                  </a:gs>
                  <a:gs pos="100000">
                    <a:srgbClr val="00B6F6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700">
                    <a:solidFill>
                      <a:srgbClr val="000000"/>
                    </a:solidFill>
                    <a:ea typeface="맑은 고딕" pitchFamily="50" charset="-127"/>
                  </a:rPr>
                  <a:t>정보</a:t>
                </a:r>
              </a:p>
            </p:txBody>
          </p:sp>
          <p:sp>
            <p:nvSpPr>
              <p:cNvPr id="41" name="Line 14"/>
              <p:cNvSpPr>
                <a:spLocks noChangeShapeType="1"/>
              </p:cNvSpPr>
              <p:nvPr/>
            </p:nvSpPr>
            <p:spPr bwMode="auto">
              <a:xfrm>
                <a:off x="1228" y="1152"/>
                <a:ext cx="0" cy="111"/>
              </a:xfrm>
              <a:prstGeom prst="line">
                <a:avLst/>
              </a:prstGeom>
              <a:noFill/>
              <a:ln w="324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44" name="AutoShape 15"/>
          <p:cNvSpPr>
            <a:spLocks noChangeArrowheads="1"/>
          </p:cNvSpPr>
          <p:nvPr/>
        </p:nvSpPr>
        <p:spPr bwMode="auto">
          <a:xfrm>
            <a:off x="623888" y="2262212"/>
            <a:ext cx="1778000" cy="3429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2F2F2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남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55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세</a:t>
            </a:r>
          </a:p>
        </p:txBody>
      </p:sp>
      <p:graphicFrame>
        <p:nvGraphicFramePr>
          <p:cNvPr id="45" name="Group 16"/>
          <p:cNvGraphicFramePr>
            <a:graphicFrameLocks noGrp="1"/>
          </p:cNvGraphicFramePr>
          <p:nvPr/>
        </p:nvGraphicFramePr>
        <p:xfrm>
          <a:off x="603250" y="2638450"/>
          <a:ext cx="1828800" cy="156210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가입정보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지역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경기도 성남시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성별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남자</a:t>
                      </a:r>
                      <a:endParaRPr kumimoji="0" 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가입년도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AutoShape 35"/>
          <p:cNvSpPr>
            <a:spLocks noChangeArrowheads="1"/>
          </p:cNvSpPr>
          <p:nvPr/>
        </p:nvSpPr>
        <p:spPr bwMode="auto">
          <a:xfrm>
            <a:off x="1282700" y="34020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2012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endParaRPr lang="ko-KR" altLang="ko-KR" sz="8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" name="Group 36"/>
          <p:cNvGraphicFramePr>
            <a:graphicFrameLocks noGrp="1"/>
          </p:cNvGraphicFramePr>
          <p:nvPr/>
        </p:nvGraphicFramePr>
        <p:xfrm>
          <a:off x="603250" y="3667150"/>
          <a:ext cx="1828800" cy="100965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그룹정보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 가입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20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" name="Group 55"/>
          <p:cNvGraphicFramePr>
            <a:graphicFrameLocks noGrp="1"/>
          </p:cNvGraphicFramePr>
          <p:nvPr/>
        </p:nvGraphicFramePr>
        <p:xfrm>
          <a:off x="603250" y="4941912"/>
          <a:ext cx="1828800" cy="1138238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41313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상품정보</a:t>
                      </a: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 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보험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년만기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가입금액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AutoShape 74"/>
          <p:cNvSpPr>
            <a:spLocks noChangeArrowheads="1"/>
          </p:cNvSpPr>
          <p:nvPr/>
        </p:nvSpPr>
        <p:spPr bwMode="auto">
          <a:xfrm>
            <a:off x="1282700" y="58277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50" name="Text Box 75"/>
          <p:cNvSpPr txBox="1">
            <a:spLocks noChangeArrowheads="1"/>
          </p:cNvSpPr>
          <p:nvPr/>
        </p:nvSpPr>
        <p:spPr bwMode="auto">
          <a:xfrm>
            <a:off x="1204913" y="4699025"/>
            <a:ext cx="6746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……… n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</a:p>
        </p:txBody>
      </p:sp>
      <p:grpSp>
        <p:nvGrpSpPr>
          <p:cNvPr id="51" name="Group 76"/>
          <p:cNvGrpSpPr>
            <a:grpSpLocks/>
          </p:cNvGrpSpPr>
          <p:nvPr/>
        </p:nvGrpSpPr>
        <p:grpSpPr bwMode="auto">
          <a:xfrm>
            <a:off x="592138" y="6076975"/>
            <a:ext cx="1835150" cy="276225"/>
            <a:chOff x="463" y="3702"/>
            <a:chExt cx="1156" cy="174"/>
          </a:xfrm>
        </p:grpSpPr>
        <p:sp>
          <p:nvSpPr>
            <p:cNvPr id="52" name="Rectangle 77"/>
            <p:cNvSpPr>
              <a:spLocks noChangeArrowheads="1"/>
            </p:cNvSpPr>
            <p:nvPr/>
          </p:nvSpPr>
          <p:spPr bwMode="auto">
            <a:xfrm>
              <a:off x="463" y="3702"/>
              <a:ext cx="1156" cy="174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3" name="AutoShape 78"/>
            <p:cNvSpPr>
              <a:spLocks noChangeArrowheads="1"/>
            </p:cNvSpPr>
            <p:nvPr/>
          </p:nvSpPr>
          <p:spPr bwMode="auto">
            <a:xfrm>
              <a:off x="475" y="3710"/>
              <a:ext cx="225" cy="15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9360">
              <a:solidFill>
                <a:srgbClr val="262626"/>
              </a:solidFill>
              <a:miter lim="800000"/>
              <a:headEnd/>
              <a:tailEnd/>
            </a:ln>
          </p:spPr>
          <p:txBody>
            <a:bodyPr lIns="0" tIns="18000" rIns="0" bIns="7200" anchor="b" anchorCtr="1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600">
                  <a:solidFill>
                    <a:srgbClr val="FFFFFF"/>
                  </a:solidFill>
                  <a:ea typeface="맑은 고딕" pitchFamily="50" charset="-127"/>
                </a:rPr>
                <a:t>HOME</a:t>
              </a:r>
            </a:p>
          </p:txBody>
        </p:sp>
        <p:sp>
          <p:nvSpPr>
            <p:cNvPr id="54" name="Oval 79"/>
            <p:cNvSpPr>
              <a:spLocks noChangeArrowheads="1"/>
            </p:cNvSpPr>
            <p:nvPr/>
          </p:nvSpPr>
          <p:spPr bwMode="auto">
            <a:xfrm>
              <a:off x="554" y="3730"/>
              <a:ext cx="67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55" name="Group 80"/>
            <p:cNvGrpSpPr>
              <a:grpSpLocks/>
            </p:cNvGrpSpPr>
            <p:nvPr/>
          </p:nvGrpSpPr>
          <p:grpSpPr bwMode="auto">
            <a:xfrm>
              <a:off x="701" y="3710"/>
              <a:ext cx="225" cy="158"/>
              <a:chOff x="701" y="3710"/>
              <a:chExt cx="225" cy="158"/>
            </a:xfrm>
          </p:grpSpPr>
          <p:sp>
            <p:nvSpPr>
              <p:cNvPr id="66" name="AutoShape 81"/>
              <p:cNvSpPr>
                <a:spLocks noChangeArrowheads="1"/>
              </p:cNvSpPr>
              <p:nvPr/>
            </p:nvSpPr>
            <p:spPr bwMode="auto">
              <a:xfrm>
                <a:off x="701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공지사항</a:t>
                </a:r>
              </a:p>
            </p:txBody>
          </p:sp>
          <p:sp>
            <p:nvSpPr>
              <p:cNvPr id="67" name="Oval 82"/>
              <p:cNvSpPr>
                <a:spLocks noChangeArrowheads="1"/>
              </p:cNvSpPr>
              <p:nvPr/>
            </p:nvSpPr>
            <p:spPr bwMode="auto">
              <a:xfrm>
                <a:off x="781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6" name="Group 83"/>
            <p:cNvGrpSpPr>
              <a:grpSpLocks/>
            </p:cNvGrpSpPr>
            <p:nvPr/>
          </p:nvGrpSpPr>
          <p:grpSpPr bwMode="auto">
            <a:xfrm>
              <a:off x="927" y="3710"/>
              <a:ext cx="225" cy="158"/>
              <a:chOff x="927" y="3710"/>
              <a:chExt cx="225" cy="158"/>
            </a:xfrm>
          </p:grpSpPr>
          <p:sp>
            <p:nvSpPr>
              <p:cNvPr id="64" name="AutoShape 84"/>
              <p:cNvSpPr>
                <a:spLocks noChangeArrowheads="1"/>
              </p:cNvSpPr>
              <p:nvPr/>
            </p:nvSpPr>
            <p:spPr bwMode="auto">
              <a:xfrm>
                <a:off x="927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500">
                    <a:solidFill>
                      <a:srgbClr val="FFFFFF"/>
                    </a:solidFill>
                    <a:ea typeface="맑은 고딕" pitchFamily="50" charset="-127"/>
                  </a:rPr>
                  <a:t>헬프데스크</a:t>
                </a:r>
              </a:p>
            </p:txBody>
          </p:sp>
          <p:sp>
            <p:nvSpPr>
              <p:cNvPr id="65" name="Oval 85"/>
              <p:cNvSpPr>
                <a:spLocks noChangeArrowheads="1"/>
              </p:cNvSpPr>
              <p:nvPr/>
            </p:nvSpPr>
            <p:spPr bwMode="auto">
              <a:xfrm>
                <a:off x="1000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7" name="Group 86"/>
            <p:cNvGrpSpPr>
              <a:grpSpLocks/>
            </p:cNvGrpSpPr>
            <p:nvPr/>
          </p:nvGrpSpPr>
          <p:grpSpPr bwMode="auto">
            <a:xfrm>
              <a:off x="1380" y="3710"/>
              <a:ext cx="225" cy="158"/>
              <a:chOff x="1380" y="3710"/>
              <a:chExt cx="225" cy="158"/>
            </a:xfrm>
          </p:grpSpPr>
          <p:sp>
            <p:nvSpPr>
              <p:cNvPr id="62" name="AutoShape 87"/>
              <p:cNvSpPr>
                <a:spLocks noChangeArrowheads="1"/>
              </p:cNvSpPr>
              <p:nvPr/>
            </p:nvSpPr>
            <p:spPr bwMode="auto">
              <a:xfrm>
                <a:off x="1380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종료</a:t>
                </a:r>
              </a:p>
            </p:txBody>
          </p:sp>
          <p:sp>
            <p:nvSpPr>
              <p:cNvPr id="63" name="Oval 88"/>
              <p:cNvSpPr>
                <a:spLocks noChangeArrowheads="1"/>
              </p:cNvSpPr>
              <p:nvPr/>
            </p:nvSpPr>
            <p:spPr bwMode="auto">
              <a:xfrm>
                <a:off x="1456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8" name="Group 89"/>
            <p:cNvGrpSpPr>
              <a:grpSpLocks/>
            </p:cNvGrpSpPr>
            <p:nvPr/>
          </p:nvGrpSpPr>
          <p:grpSpPr bwMode="auto">
            <a:xfrm>
              <a:off x="1154" y="3710"/>
              <a:ext cx="225" cy="158"/>
              <a:chOff x="1154" y="3710"/>
              <a:chExt cx="225" cy="158"/>
            </a:xfrm>
          </p:grpSpPr>
          <p:sp>
            <p:nvSpPr>
              <p:cNvPr id="59" name="AutoShape 90"/>
              <p:cNvSpPr>
                <a:spLocks noChangeArrowheads="1"/>
              </p:cNvSpPr>
              <p:nvPr/>
            </p:nvSpPr>
            <p:spPr bwMode="auto">
              <a:xfrm>
                <a:off x="1154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전체메뉴</a:t>
                </a:r>
              </a:p>
            </p:txBody>
          </p:sp>
          <p:sp>
            <p:nvSpPr>
              <p:cNvPr id="60" name="Oval 91"/>
              <p:cNvSpPr>
                <a:spLocks noChangeArrowheads="1"/>
              </p:cNvSpPr>
              <p:nvPr/>
            </p:nvSpPr>
            <p:spPr bwMode="auto">
              <a:xfrm>
                <a:off x="1227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</p:grpSp>
      <p:sp>
        <p:nvSpPr>
          <p:cNvPr id="68" name="AutoShape 92"/>
          <p:cNvSpPr>
            <a:spLocks noChangeArrowheads="1"/>
          </p:cNvSpPr>
          <p:nvPr/>
        </p:nvSpPr>
        <p:spPr bwMode="auto">
          <a:xfrm>
            <a:off x="1292225" y="4425975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360">
            <a:solidFill>
              <a:srgbClr val="A6A6A6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ko-KR" altLang="ko-KR" sz="800" b="1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69" name="AutoShape 93"/>
          <p:cNvSpPr>
            <a:spLocks noChangeArrowheads="1"/>
          </p:cNvSpPr>
          <p:nvPr/>
        </p:nvSpPr>
        <p:spPr bwMode="auto">
          <a:xfrm>
            <a:off x="1292225" y="4168800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년납▼</a:t>
            </a:r>
          </a:p>
        </p:txBody>
      </p:sp>
      <p:grpSp>
        <p:nvGrpSpPr>
          <p:cNvPr id="70" name="Group 94"/>
          <p:cNvGrpSpPr>
            <a:grpSpLocks/>
          </p:cNvGrpSpPr>
          <p:nvPr/>
        </p:nvGrpSpPr>
        <p:grpSpPr bwMode="auto">
          <a:xfrm>
            <a:off x="163513" y="2247925"/>
            <a:ext cx="387350" cy="1874837"/>
            <a:chOff x="193" y="1290"/>
            <a:chExt cx="244" cy="1181"/>
          </a:xfrm>
        </p:grpSpPr>
        <p:sp>
          <p:nvSpPr>
            <p:cNvPr id="71" name="Text Box 95"/>
            <p:cNvSpPr txBox="1">
              <a:spLocks noChangeArrowheads="1"/>
            </p:cNvSpPr>
            <p:nvPr/>
          </p:nvSpPr>
          <p:spPr bwMode="auto">
            <a:xfrm>
              <a:off x="193" y="1797"/>
              <a:ext cx="159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Scroll</a:t>
              </a:r>
            </a:p>
            <a:p>
              <a:pPr algn="r" eaLnBrk="1" hangingPunct="1"/>
              <a:r>
                <a:rPr lang="ko-KR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영역</a:t>
              </a:r>
            </a:p>
          </p:txBody>
        </p:sp>
        <p:sp>
          <p:nvSpPr>
            <p:cNvPr id="72" name="Line 96"/>
            <p:cNvSpPr>
              <a:spLocks noChangeShapeType="1"/>
            </p:cNvSpPr>
            <p:nvPr/>
          </p:nvSpPr>
          <p:spPr bwMode="auto">
            <a:xfrm>
              <a:off x="371" y="1291"/>
              <a:ext cx="0" cy="117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Line 97"/>
            <p:cNvSpPr>
              <a:spLocks noChangeShapeType="1"/>
            </p:cNvSpPr>
            <p:nvPr/>
          </p:nvSpPr>
          <p:spPr bwMode="auto">
            <a:xfrm>
              <a:off x="305" y="2472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Line 98"/>
            <p:cNvSpPr>
              <a:spLocks noChangeShapeType="1"/>
            </p:cNvSpPr>
            <p:nvPr/>
          </p:nvSpPr>
          <p:spPr bwMode="auto">
            <a:xfrm>
              <a:off x="305" y="1290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Text Box 100"/>
          <p:cNvSpPr txBox="1">
            <a:spLocks noChangeArrowheads="1"/>
          </p:cNvSpPr>
          <p:nvPr/>
        </p:nvSpPr>
        <p:spPr bwMode="auto">
          <a:xfrm>
            <a:off x="80963" y="1216025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회원가입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신청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가입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상품 리스트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기본 정보 입력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추가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정보 입력</a:t>
            </a:r>
          </a:p>
        </p:txBody>
      </p:sp>
      <p:graphicFrame>
        <p:nvGraphicFramePr>
          <p:cNvPr id="76" name="Group 101"/>
          <p:cNvGraphicFramePr>
            <a:graphicFrameLocks noGrp="1"/>
          </p:cNvGraphicFramePr>
          <p:nvPr/>
        </p:nvGraphicFramePr>
        <p:xfrm>
          <a:off x="6228184" y="1527175"/>
          <a:ext cx="2730500" cy="4902200"/>
        </p:xfrm>
        <a:graphic>
          <a:graphicData uri="http://schemas.openxmlformats.org/drawingml/2006/table">
            <a:tbl>
              <a:tblPr/>
              <a:tblGrid>
                <a:gridCol w="2936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368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4138" indent="-84138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4138" marR="0" lvl="0" indent="-84138" algn="l" defTabSz="449263" rtl="0" eaLnBrk="1" fontAlgn="base" latinLnBrk="0" hangingPunct="1">
                        <a:lnSpc>
                          <a:spcPct val="9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리스트 참고</a:t>
                      </a:r>
                    </a:p>
                  </a:txBody>
                  <a:tcPr marL="36000" marR="36000" marT="36000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년도</a:t>
                      </a:r>
                      <a:endParaRPr kumimoji="0" lang="ko-KR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Tap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 숫자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Keypad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올라옴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입력박스 가려지지 않도록 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만원’ 으로 표기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575D1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575D1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금액 표기 정책 참고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 </a:t>
                      </a:r>
                      <a:r>
                        <a:rPr kumimoji="0" lang="en-US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제공 </a:t>
                      </a:r>
                      <a:r>
                        <a:rPr kumimoji="0" lang="ko-KR" altLang="en-US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트 참고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 제공하는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가입범위를 넘을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합산  한도를 초과할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시 입력박스에 동시에 입력할 경우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779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2476500" y="333377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sp>
        <p:nvSpPr>
          <p:cNvPr id="79" name="AutoShape 158"/>
          <p:cNvSpPr>
            <a:spLocks noChangeArrowheads="1"/>
          </p:cNvSpPr>
          <p:nvPr/>
        </p:nvSpPr>
        <p:spPr bwMode="auto">
          <a:xfrm>
            <a:off x="3908425" y="19240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가입금액은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~ 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0" name="AutoShape 159"/>
          <p:cNvSpPr>
            <a:spLocks noChangeArrowheads="1"/>
          </p:cNvSpPr>
          <p:nvPr/>
        </p:nvSpPr>
        <p:spPr bwMode="auto">
          <a:xfrm>
            <a:off x="4375150" y="25574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1" name="Rectangle 160"/>
          <p:cNvSpPr>
            <a:spLocks noChangeArrowheads="1"/>
          </p:cNvSpPr>
          <p:nvPr/>
        </p:nvSpPr>
        <p:spPr bwMode="auto">
          <a:xfrm>
            <a:off x="3921125" y="1724050"/>
            <a:ext cx="143351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가입금액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2" name="Oval 161"/>
          <p:cNvSpPr>
            <a:spLocks noChangeArrowheads="1"/>
          </p:cNvSpPr>
          <p:nvPr/>
        </p:nvSpPr>
        <p:spPr bwMode="auto">
          <a:xfrm>
            <a:off x="5553075" y="20320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2349500" y="3509987"/>
            <a:ext cx="1193800" cy="500063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2476500" y="444820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5" name="AutoShape 164"/>
          <p:cNvSpPr>
            <a:spLocks noChangeArrowheads="1"/>
          </p:cNvSpPr>
          <p:nvPr/>
        </p:nvSpPr>
        <p:spPr bwMode="auto">
          <a:xfrm>
            <a:off x="3908425" y="33718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합산금액의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한도는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6" name="AutoShape 165"/>
          <p:cNvSpPr>
            <a:spLocks noChangeArrowheads="1"/>
          </p:cNvSpPr>
          <p:nvPr/>
        </p:nvSpPr>
        <p:spPr bwMode="auto">
          <a:xfrm>
            <a:off x="4375150" y="40052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7" name="Rectangle 166"/>
          <p:cNvSpPr>
            <a:spLocks noChangeArrowheads="1"/>
          </p:cNvSpPr>
          <p:nvPr/>
        </p:nvSpPr>
        <p:spPr bwMode="auto">
          <a:xfrm>
            <a:off x="3929063" y="3171850"/>
            <a:ext cx="15017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금액 한도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5553075" y="34798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89" name="Rectangle 172"/>
          <p:cNvSpPr>
            <a:spLocks noChangeArrowheads="1"/>
          </p:cNvSpPr>
          <p:nvPr/>
        </p:nvSpPr>
        <p:spPr bwMode="auto">
          <a:xfrm>
            <a:off x="3552825" y="1628800"/>
            <a:ext cx="2447925" cy="4305300"/>
          </a:xfrm>
          <a:prstGeom prst="rect">
            <a:avLst/>
          </a:prstGeom>
          <a:noFill/>
          <a:ln w="19080">
            <a:solidFill>
              <a:srgbClr val="D1D1F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1" name="사각형: 둥근 모서리 26">
            <a:extLst>
              <a:ext uri="{FF2B5EF4-FFF2-40B4-BE49-F238E27FC236}">
                <a16:creationId xmlns="" xmlns:a16="http://schemas.microsoft.com/office/drawing/2014/main" id="{97A8E8C6-3C40-4BDF-C2D7-4046673BAF1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6BD26D27-A8D6-9A02-1971-0246A3FB9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image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370159"/>
            <a:ext cx="8496944" cy="4612231"/>
          </a:xfrm>
          <a:prstGeom prst="rect">
            <a:avLst/>
          </a:prstGeom>
          <a:noFill/>
        </p:spPr>
      </p:pic>
      <p:sp>
        <p:nvSpPr>
          <p:cNvPr id="14" name="사각형: 둥근 모서리 26">
            <a:extLst>
              <a:ext uri="{FF2B5EF4-FFF2-40B4-BE49-F238E27FC236}">
                <a16:creationId xmlns="" xmlns:a16="http://schemas.microsoft.com/office/drawing/2014/main" id="{37FE8161-5D74-859B-C34D-BA9D700951A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521530AE-EA3B-1DEE-1136-51D3F27347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_x193052136" descr="EMB000020045b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44972"/>
            <a:ext cx="8362684" cy="394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직사각형 6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" name="사각형: 둥근 모서리 26">
            <a:extLst>
              <a:ext uri="{FF2B5EF4-FFF2-40B4-BE49-F238E27FC236}">
                <a16:creationId xmlns="" xmlns:a16="http://schemas.microsoft.com/office/drawing/2014/main" id="{8F17A139-FEE5-B170-10CF-5142D48A0013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1AF9B816-68A9-938B-3C1F-E5AC20F1AF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539552" y="1340768"/>
          <a:ext cx="7992888" cy="4711161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/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 선택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앱의 첫 화면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기존회원은 자신이 연동했던 계정으로 로그인을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 회원은 회원가입을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∎기존회원의 로그인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연동했던 계정으로 로그인을 할 수 있음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  <a:t/>
                      </a:r>
                      <a:b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계정의 아이콘을 누르면 로그인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∎신규 회원의 회원가입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‘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시작하기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’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버튼을 눌러 신규 회원의 회원가입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연동하고 싶은 계정의 아이콘을 누르면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각각의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API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에 따라 회원 가입 창으로 이동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∎연결되는 기능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 연동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계정연동 및 회원가입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121" name="_x278366352" descr="EMB00002bb84fc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5733" r="49615" b="3430"/>
          <a:stretch>
            <a:fillRect/>
          </a:stretch>
        </p:blipFill>
        <p:spPr bwMode="auto">
          <a:xfrm>
            <a:off x="655856" y="1825665"/>
            <a:ext cx="1899920" cy="362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="" xmlns:a16="http://schemas.microsoft.com/office/drawing/2014/main" id="{9D8A8F80-03A3-BF6E-F89A-4A1813D0AABF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F9F6CF46-6C66-A1D7-0591-E42A33DBF3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24356" y="1196753"/>
          <a:ext cx="7388004" cy="1770126"/>
        </p:xfrm>
        <a:graphic>
          <a:graphicData uri="http://schemas.openxmlformats.org/drawingml/2006/table">
            <a:tbl>
              <a:tblPr/>
              <a:tblGrid>
                <a:gridCol w="122529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6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2764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기능정보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 기능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기기별로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예약할 수 있는 기능이다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835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처리내용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도면에 등록된 기기 중 사용자가 시간을 예약하고자 하는 기기를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화면에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버튼이 출력되면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 설정하고자 하는 버튼을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기기를 작동하고자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기기의 작동을 중지시키고자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 사이에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지정하지 않고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예약된 시간에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관련번호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CP-7, FN-7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00496" y="3068961"/>
          <a:ext cx="7411864" cy="2118203"/>
        </p:xfrm>
        <a:graphic>
          <a:graphicData uri="http://schemas.openxmlformats.org/drawingml/2006/table">
            <a:tbl>
              <a:tblPr/>
              <a:tblGrid>
                <a:gridCol w="12911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2007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사용 예시 정보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330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예약을 원하는 기기를 클릭하고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버튼을 누른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기기를 작동하고 싶은 시간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작동을 중지시키고 싶은 시간을 입력하면 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시간동안에만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30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 데이터 값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원하는 기기를 선택한 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켜는 시간과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끄는 시간을 입력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457" name="_x280090008" descr="EMB00002bb84fe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86" y="3429000"/>
            <a:ext cx="926570" cy="16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03649" y="5229200"/>
          <a:ext cx="3736303" cy="1070102"/>
        </p:xfrm>
        <a:graphic>
          <a:graphicData uri="http://schemas.openxmlformats.org/drawingml/2006/table">
            <a:tbl>
              <a:tblPr/>
              <a:tblGrid>
                <a:gridCol w="7856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34696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입출력 데이터 항목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입출력구분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이벤트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기기를 클릭한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 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211960" y="5238078"/>
          <a:ext cx="3672408" cy="1089660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34696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선행필수기능 및 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기기를 계속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사각형: 둥근 모서리 26">
            <a:extLst>
              <a:ext uri="{FF2B5EF4-FFF2-40B4-BE49-F238E27FC236}">
                <a16:creationId xmlns="" xmlns:a16="http://schemas.microsoft.com/office/drawing/2014/main" id="{6DA52A7A-D48A-7E36-6634-980F55F5509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A72B1EC3-1DD9-B67D-5D29-A0AAC23973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7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34704"/>
            <a:ext cx="4896544" cy="43925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1357167"/>
            <a:ext cx="5137215" cy="394404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="" xmlns:a16="http://schemas.microsoft.com/office/drawing/2014/main" id="{694A1059-AC4D-E0F4-A580-8873A9C5D25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951B6C93-2F14-0DCE-3F75-40BFD934FE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6" name="제목 12">
            <a:extLst>
              <a:ext uri="{FF2B5EF4-FFF2-40B4-BE49-F238E27FC236}">
                <a16:creationId xmlns="" xmlns:a16="http://schemas.microsoft.com/office/drawing/2014/main" id="{A8797D0C-2F07-B7C3-D14C-6F225B33D39D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78" y="1233293"/>
            <a:ext cx="8432800" cy="4777019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="" xmlns:a16="http://schemas.microsoft.com/office/drawing/2014/main" id="{C27C7DB5-EC05-FF77-AE92-530B5D2FB34B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64F5C021-37FA-E362-3D1E-4D68FEA102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="" xmlns:a16="http://schemas.microsoft.com/office/drawing/2014/main" id="{479E0A7F-16A3-CCFA-885F-2BAD11697D42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0389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08739"/>
            <a:ext cx="8331200" cy="5003800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="" xmlns:a16="http://schemas.microsoft.com/office/drawing/2014/main" id="{0E6FE3C9-1D1F-3DDB-B229-EB103AD644B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DE7324E7-895A-A0DF-5B5A-CCD942DAA6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168879" y="2132856"/>
          <a:ext cx="8848773" cy="4341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88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6063">
                <a:tc>
                  <a:txBody>
                    <a:bodyPr/>
                    <a:lstStyle/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" name="Text Box 62"/>
          <p:cNvSpPr txBox="1">
            <a:spLocks noChangeArrowheads="1"/>
          </p:cNvSpPr>
          <p:nvPr/>
        </p:nvSpPr>
        <p:spPr bwMode="auto">
          <a:xfrm>
            <a:off x="586102" y="2492896"/>
            <a:ext cx="49688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키넥트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연동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인터렉티브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전래동화 연계도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</p:txBody>
      </p:sp>
      <p:sp>
        <p:nvSpPr>
          <p:cNvPr id="83" name="AutoShape 85"/>
          <p:cNvSpPr>
            <a:spLocks noChangeArrowheads="1"/>
          </p:cNvSpPr>
          <p:nvPr/>
        </p:nvSpPr>
        <p:spPr bwMode="auto">
          <a:xfrm>
            <a:off x="719932" y="2812827"/>
            <a:ext cx="7848600" cy="3564000"/>
          </a:xfrm>
          <a:prstGeom prst="roundRect">
            <a:avLst>
              <a:gd name="adj" fmla="val 2189"/>
            </a:avLst>
          </a:prstGeom>
          <a:noFill/>
          <a:ln w="19050">
            <a:solidFill>
              <a:srgbClr val="C4045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000">
              <a:ln w="1270">
                <a:solidFill>
                  <a:schemeClr val="tx1"/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Rectangle 41"/>
          <p:cNvSpPr>
            <a:spLocks noChangeArrowheads="1"/>
          </p:cNvSpPr>
          <p:nvPr/>
        </p:nvSpPr>
        <p:spPr bwMode="auto">
          <a:xfrm>
            <a:off x="1502156" y="3129979"/>
            <a:ext cx="1439862" cy="309563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프로그램 실행</a:t>
            </a:r>
          </a:p>
        </p:txBody>
      </p:sp>
      <p:sp>
        <p:nvSpPr>
          <p:cNvPr id="85" name="AutoShape 46"/>
          <p:cNvSpPr>
            <a:spLocks noChangeArrowheads="1"/>
          </p:cNvSpPr>
          <p:nvPr/>
        </p:nvSpPr>
        <p:spPr bwMode="auto">
          <a:xfrm>
            <a:off x="1502156" y="4555554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(PFCBGSGM)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86" name="순서도: 판단 85"/>
          <p:cNvSpPr/>
          <p:nvPr/>
        </p:nvSpPr>
        <p:spPr>
          <a:xfrm>
            <a:off x="1478343" y="3807842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전래동화 옵션</a:t>
            </a:r>
          </a:p>
        </p:txBody>
      </p:sp>
      <p:cxnSp>
        <p:nvCxnSpPr>
          <p:cNvPr id="87" name="직선 화살표 연결선 86"/>
          <p:cNvCxnSpPr/>
          <p:nvPr/>
        </p:nvCxnSpPr>
        <p:spPr>
          <a:xfrm rot="5400000">
            <a:off x="2008568" y="3626867"/>
            <a:ext cx="360363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8" name="직선 화살표 연결선 87"/>
          <p:cNvCxnSpPr/>
          <p:nvPr/>
        </p:nvCxnSpPr>
        <p:spPr>
          <a:xfrm rot="5400000">
            <a:off x="2018887" y="4346798"/>
            <a:ext cx="358775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9" name="꺾인 연결선 88"/>
          <p:cNvCxnSpPr>
            <a:stCxn id="86" idx="3"/>
            <a:endCxn id="84" idx="3"/>
          </p:cNvCxnSpPr>
          <p:nvPr/>
        </p:nvCxnSpPr>
        <p:spPr>
          <a:xfrm flipV="1">
            <a:off x="2907093" y="3285554"/>
            <a:ext cx="34925" cy="700088"/>
          </a:xfrm>
          <a:prstGeom prst="bentConnector3">
            <a:avLst>
              <a:gd name="adj1" fmla="val 755484"/>
            </a:avLst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90" name="TextBox 71"/>
          <p:cNvSpPr txBox="1">
            <a:spLocks noChangeArrowheads="1"/>
          </p:cNvSpPr>
          <p:nvPr/>
        </p:nvSpPr>
        <p:spPr bwMode="auto">
          <a:xfrm>
            <a:off x="2026031" y="4109467"/>
            <a:ext cx="2571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Y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TextBox 71"/>
          <p:cNvSpPr txBox="1">
            <a:spLocks noChangeArrowheads="1"/>
          </p:cNvSpPr>
          <p:nvPr/>
        </p:nvSpPr>
        <p:spPr bwMode="auto">
          <a:xfrm>
            <a:off x="2953131" y="3242692"/>
            <a:ext cx="2809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N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Rectangle 41"/>
          <p:cNvSpPr>
            <a:spLocks noChangeArrowheads="1"/>
          </p:cNvSpPr>
          <p:nvPr/>
        </p:nvSpPr>
        <p:spPr bwMode="auto">
          <a:xfrm>
            <a:off x="3737356" y="3009329"/>
            <a:ext cx="1223962" cy="349250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옵션 선택</a:t>
            </a:r>
          </a:p>
        </p:txBody>
      </p:sp>
      <p:sp>
        <p:nvSpPr>
          <p:cNvPr id="93" name="순서도: 판단 92"/>
          <p:cNvSpPr/>
          <p:nvPr/>
        </p:nvSpPr>
        <p:spPr>
          <a:xfrm>
            <a:off x="5332793" y="3006154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동화보기</a:t>
            </a:r>
          </a:p>
        </p:txBody>
      </p:sp>
      <p:sp>
        <p:nvSpPr>
          <p:cNvPr id="94" name="순서도: 판단 93"/>
          <p:cNvSpPr/>
          <p:nvPr/>
        </p:nvSpPr>
        <p:spPr>
          <a:xfrm>
            <a:off x="5332793" y="3523679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재생녹화</a:t>
            </a:r>
          </a:p>
        </p:txBody>
      </p:sp>
      <p:sp>
        <p:nvSpPr>
          <p:cNvPr id="95" name="순서도: 판단 94"/>
          <p:cNvSpPr/>
          <p:nvPr/>
        </p:nvSpPr>
        <p:spPr>
          <a:xfrm>
            <a:off x="5332793" y="4045967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다시보기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6" name="순서도: 판단 95"/>
          <p:cNvSpPr/>
          <p:nvPr/>
        </p:nvSpPr>
        <p:spPr>
          <a:xfrm>
            <a:off x="5332793" y="4579367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맑은 고딕" pitchFamily="50" charset="-127"/>
                <a:ea typeface="맑은 고딕" pitchFamily="50" charset="-127"/>
              </a:rPr>
              <a:t>인기동화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7" name="순서도: 판단 96"/>
          <p:cNvSpPr/>
          <p:nvPr/>
        </p:nvSpPr>
        <p:spPr>
          <a:xfrm>
            <a:off x="5323268" y="5130229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 err="1">
                <a:latin typeface="맑은 고딕" pitchFamily="50" charset="-127"/>
                <a:ea typeface="맑은 고딕" pitchFamily="50" charset="-127"/>
              </a:rPr>
              <a:t>게임하기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4970843" y="3188717"/>
            <a:ext cx="360363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99" name="직선 연결선 98"/>
          <p:cNvCxnSpPr/>
          <p:nvPr/>
        </p:nvCxnSpPr>
        <p:spPr>
          <a:xfrm rot="5400000" flipH="1" flipV="1">
            <a:off x="3935000" y="4356323"/>
            <a:ext cx="2341562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0" name="직선 연결선 99"/>
          <p:cNvCxnSpPr/>
          <p:nvPr/>
        </p:nvCxnSpPr>
        <p:spPr>
          <a:xfrm>
            <a:off x="5115306" y="3703067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1" name="직선 연결선 100"/>
          <p:cNvCxnSpPr/>
          <p:nvPr/>
        </p:nvCxnSpPr>
        <p:spPr>
          <a:xfrm>
            <a:off x="5110543" y="4231704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2" name="직선 연결선 101"/>
          <p:cNvCxnSpPr/>
          <p:nvPr/>
        </p:nvCxnSpPr>
        <p:spPr>
          <a:xfrm>
            <a:off x="5110543" y="4763517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3" name="직선 연결선 102"/>
          <p:cNvCxnSpPr/>
          <p:nvPr/>
        </p:nvCxnSpPr>
        <p:spPr>
          <a:xfrm>
            <a:off x="5110543" y="5320729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4" name="Shape 83"/>
          <p:cNvCxnSpPr>
            <a:endCxn id="85" idx="3"/>
          </p:cNvCxnSpPr>
          <p:nvPr/>
        </p:nvCxnSpPr>
        <p:spPr>
          <a:xfrm rot="10800000">
            <a:off x="2222881" y="5095304"/>
            <a:ext cx="2882900" cy="431800"/>
          </a:xfrm>
          <a:prstGeom prst="bentConnector2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5" name="직선 화살표 연결선 104"/>
          <p:cNvCxnSpPr/>
          <p:nvPr/>
        </p:nvCxnSpPr>
        <p:spPr>
          <a:xfrm>
            <a:off x="6761543" y="3187129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106" name="Rectangle 41"/>
          <p:cNvSpPr>
            <a:spLocks noChangeArrowheads="1"/>
          </p:cNvSpPr>
          <p:nvPr/>
        </p:nvSpPr>
        <p:spPr bwMode="auto">
          <a:xfrm>
            <a:off x="7012368" y="3545904"/>
            <a:ext cx="1079500" cy="309563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오디오 플레이</a:t>
            </a:r>
          </a:p>
        </p:txBody>
      </p:sp>
      <p:cxnSp>
        <p:nvCxnSpPr>
          <p:cNvPr id="107" name="직선 화살표 연결선 106"/>
          <p:cNvCxnSpPr/>
          <p:nvPr/>
        </p:nvCxnSpPr>
        <p:spPr>
          <a:xfrm>
            <a:off x="6771068" y="3703067"/>
            <a:ext cx="215900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08" name="직선 화살표 연결선 107"/>
          <p:cNvCxnSpPr/>
          <p:nvPr/>
        </p:nvCxnSpPr>
        <p:spPr>
          <a:xfrm>
            <a:off x="6752018" y="4230117"/>
            <a:ext cx="215900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09" name="직선 화살표 연결선 108"/>
          <p:cNvCxnSpPr/>
          <p:nvPr/>
        </p:nvCxnSpPr>
        <p:spPr>
          <a:xfrm>
            <a:off x="6752018" y="4761929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10" name="직선 화살표 연결선 109"/>
          <p:cNvCxnSpPr/>
          <p:nvPr/>
        </p:nvCxnSpPr>
        <p:spPr>
          <a:xfrm>
            <a:off x="6752018" y="5304854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111" name="Rectangle 41"/>
          <p:cNvSpPr>
            <a:spLocks noChangeArrowheads="1"/>
          </p:cNvSpPr>
          <p:nvPr/>
        </p:nvSpPr>
        <p:spPr bwMode="auto">
          <a:xfrm>
            <a:off x="6993318" y="4065017"/>
            <a:ext cx="1079500" cy="309562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과거이력 검색</a:t>
            </a:r>
          </a:p>
        </p:txBody>
      </p:sp>
      <p:sp>
        <p:nvSpPr>
          <p:cNvPr id="112" name="AutoShape 46"/>
          <p:cNvSpPr>
            <a:spLocks noChangeArrowheads="1"/>
          </p:cNvSpPr>
          <p:nvPr/>
        </p:nvSpPr>
        <p:spPr bwMode="auto">
          <a:xfrm>
            <a:off x="6982206" y="291566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(PFOBSCDM)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3" name="AutoShape 46"/>
          <p:cNvSpPr>
            <a:spLocks noChangeArrowheads="1"/>
          </p:cNvSpPr>
          <p:nvPr/>
        </p:nvSpPr>
        <p:spPr bwMode="auto">
          <a:xfrm>
            <a:off x="6982206" y="448411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맑은 고딕" pitchFamily="50" charset="-127"/>
                <a:ea typeface="맑은 고딕" pitchFamily="50" charset="-127"/>
              </a:rPr>
              <a:t>인기순위 정보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(COMCODEM)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4" name="AutoShape 46"/>
          <p:cNvSpPr>
            <a:spLocks noChangeArrowheads="1"/>
          </p:cNvSpPr>
          <p:nvPr/>
        </p:nvSpPr>
        <p:spPr bwMode="auto">
          <a:xfrm>
            <a:off x="6982206" y="504926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게임정보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(PFCBICDM)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5" name="Oval 44"/>
          <p:cNvSpPr>
            <a:spLocks noChangeArrowheads="1"/>
          </p:cNvSpPr>
          <p:nvPr/>
        </p:nvSpPr>
        <p:spPr bwMode="auto">
          <a:xfrm>
            <a:off x="4837493" y="2910904"/>
            <a:ext cx="268288" cy="203200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6" name="Oval 58"/>
          <p:cNvSpPr>
            <a:spLocks noChangeArrowheads="1"/>
          </p:cNvSpPr>
          <p:nvPr/>
        </p:nvSpPr>
        <p:spPr bwMode="auto">
          <a:xfrm>
            <a:off x="929068" y="5657279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17" name="Text Box 59"/>
          <p:cNvSpPr txBox="1">
            <a:spLocks noChangeArrowheads="1"/>
          </p:cNvSpPr>
          <p:nvPr/>
        </p:nvSpPr>
        <p:spPr bwMode="auto">
          <a:xfrm>
            <a:off x="1145448" y="5620767"/>
            <a:ext cx="44791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전래동화 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APP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실행하여 프로그램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네비게이션으로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해당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컨텐츠를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선택한다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8" name="Oval 73"/>
          <p:cNvSpPr>
            <a:spLocks noChangeArrowheads="1"/>
          </p:cNvSpPr>
          <p:nvPr/>
        </p:nvSpPr>
        <p:spPr bwMode="auto">
          <a:xfrm>
            <a:off x="929068" y="5898579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9" name="Text Box 59"/>
          <p:cNvSpPr txBox="1">
            <a:spLocks noChangeArrowheads="1"/>
          </p:cNvSpPr>
          <p:nvPr/>
        </p:nvSpPr>
        <p:spPr bwMode="auto">
          <a:xfrm>
            <a:off x="1156081" y="5857304"/>
            <a:ext cx="6760184" cy="25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전래동화 옵션을 선택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옵션체크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동화보기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재생하기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다시보기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인기동화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게임하기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를 선택한 후 해당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컨텐츠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재생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Oval 44"/>
          <p:cNvSpPr>
            <a:spLocks noChangeArrowheads="1"/>
          </p:cNvSpPr>
          <p:nvPr/>
        </p:nvSpPr>
        <p:spPr bwMode="auto">
          <a:xfrm>
            <a:off x="2657856" y="3015679"/>
            <a:ext cx="268287" cy="203200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14490"/>
              </p:ext>
            </p:extLst>
          </p:nvPr>
        </p:nvGraphicFramePr>
        <p:xfrm>
          <a:off x="168879" y="1398060"/>
          <a:ext cx="8865668" cy="764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1813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PFC2_BGSSMGwanRi_M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전래동화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20  .   .   .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1/3</a:t>
                      </a:r>
                      <a:endParaRPr lang="ko-KR" altLang="en-US" sz="10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6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키넥트기반의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음성인식과 모션인식 기술을 통해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인터랙티브한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방식으로 학습게임을 포함한 전래동화를 체험하는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콘텐츠를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제공하는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456534" y="1130999"/>
            <a:ext cx="1571084" cy="238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실무 산출물 형식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ED3048A8-CC9D-F6CB-D975-4F8A03617F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="" xmlns:a16="http://schemas.microsoft.com/office/drawing/2014/main" id="{B0FAE96D-CB24-0C5B-C4D9-16CA6E77F03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63348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기능 처리도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기능 흐름도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4" y="1280714"/>
            <a:ext cx="8461078" cy="491606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6B781476-C8ED-879A-224D-BC899F1FDD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사각형: 둥근 모서리 26">
            <a:extLst>
              <a:ext uri="{FF2B5EF4-FFF2-40B4-BE49-F238E27FC236}">
                <a16:creationId xmlns="" xmlns:a16="http://schemas.microsoft.com/office/drawing/2014/main" id="{1A2C6A05-7949-A0A8-62E3-9170B1FF6FB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1961503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6" name="image7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1010" y="1547495"/>
            <a:ext cx="3454152" cy="4257769"/>
          </a:xfrm>
          <a:prstGeom prst="rect">
            <a:avLst/>
          </a:prstGeom>
          <a:noFill/>
        </p:spPr>
      </p:pic>
      <p:pic>
        <p:nvPicPr>
          <p:cNvPr id="27" name="image8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68678" y="1601625"/>
            <a:ext cx="4007778" cy="3915607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0EBA5F1E-D2C5-F942-9279-5F7C0739AE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사각형: 둥근 모서리 26">
            <a:extLst>
              <a:ext uri="{FF2B5EF4-FFF2-40B4-BE49-F238E27FC236}">
                <a16:creationId xmlns="" xmlns:a16="http://schemas.microsoft.com/office/drawing/2014/main" id="{C96BF701-A499-9A7B-AB11-D4A7BFB937D7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356934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2571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234302" y="4283396"/>
            <a:ext cx="8728070" cy="19036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9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68789" y="4420042"/>
            <a:ext cx="4303212" cy="1673254"/>
          </a:xfrm>
          <a:prstGeom prst="rect">
            <a:avLst/>
          </a:prstGeom>
          <a:noFill/>
        </p:spPr>
      </p:pic>
      <p:pic>
        <p:nvPicPr>
          <p:cNvPr id="23" name="image12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17706" y="4447381"/>
            <a:ext cx="4130757" cy="1645915"/>
          </a:xfrm>
          <a:prstGeom prst="rect">
            <a:avLst/>
          </a:prstGeom>
          <a:noFill/>
        </p:spPr>
      </p:pic>
      <p:pic>
        <p:nvPicPr>
          <p:cNvPr id="24" name="image10.png" title="이미지"/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353509" y="1541283"/>
            <a:ext cx="8322947" cy="2319766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7C716FAD-2125-FFAD-ED3D-BDF6FF6C64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사각형: 둥근 모서리 26">
            <a:extLst>
              <a:ext uri="{FF2B5EF4-FFF2-40B4-BE49-F238E27FC236}">
                <a16:creationId xmlns="" xmlns:a16="http://schemas.microsoft.com/office/drawing/2014/main" id="{5DB4E7FD-8A92-BFFB-3DAC-98D4FF45C3B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86226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데이터 수집처리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289" name="_x280086568" descr="EMB00002bb850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32" y="1249452"/>
            <a:ext cx="6840294" cy="498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BE1DA1A-5172-1FA8-E413-4D6DBA383A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8C78037E-960A-2741-1D42-FAE7F200A937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6">
            <a:extLst>
              <a:ext uri="{FF2B5EF4-FFF2-40B4-BE49-F238E27FC236}">
                <a16:creationId xmlns="" xmlns:a16="http://schemas.microsoft.com/office/drawing/2014/main" id="{1AF11533-2BDA-A5DC-063B-E151CECF0CA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3742406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 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98210" y="1216519"/>
          <a:ext cx="8547580" cy="5020793"/>
        </p:xfrm>
        <a:graphic>
          <a:graphicData uri="http://schemas.openxmlformats.org/drawingml/2006/table">
            <a:tbl>
              <a:tblPr/>
              <a:tblGrid>
                <a:gridCol w="12335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269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71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분류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기능번호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명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45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기존 선택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 회원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계정연동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신규 회원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회원가입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LOG-01-04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로그인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FAV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FAV-02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즐겨 찾는 병원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9454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구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군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읍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동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SER-02-0103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지역선택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현재위치로 설정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SER-02-02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병원검색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병원종류 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6734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이하 생략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30A0C524-B087-4D8C-D006-DCF244C9E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="" xmlns:a16="http://schemas.microsoft.com/office/drawing/2014/main" id="{D12235F5-E749-E4F5-FBCD-D4E73894DB9B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테이블 정의서 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13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601682"/>
            <a:ext cx="4190388" cy="3915550"/>
          </a:xfrm>
          <a:prstGeom prst="rect">
            <a:avLst/>
          </a:prstGeom>
          <a:noFill/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38" y="1743204"/>
            <a:ext cx="3816424" cy="16808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EEAC59A-86BF-37C3-CA24-78B1C50D89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사각형: 둥근 모서리 26">
            <a:extLst>
              <a:ext uri="{FF2B5EF4-FFF2-40B4-BE49-F238E27FC236}">
                <a16:creationId xmlns="" xmlns:a16="http://schemas.microsoft.com/office/drawing/2014/main" id="{7FD838C1-BB05-B05B-88C8-14DF69618CC7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1676602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6" name="image1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41185" y="1593288"/>
            <a:ext cx="8479287" cy="4500008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9668FF1F-A70C-4952-355C-36F416913C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사각형: 둥근 모서리 26">
            <a:extLst>
              <a:ext uri="{FF2B5EF4-FFF2-40B4-BE49-F238E27FC236}">
                <a16:creationId xmlns="" xmlns:a16="http://schemas.microsoft.com/office/drawing/2014/main" id="{155C9119-BBE9-B5E9-93C4-E9F8417C9EE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642459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핵심 소스코드</a:t>
            </a:r>
            <a:r>
              <a:rPr lang="en-US" altLang="ko-KR" sz="1700" spc="-50" dirty="0">
                <a:solidFill>
                  <a:schemeClr val="bg1"/>
                </a:solidFill>
                <a:latin typeface="+mn-ea"/>
                <a:cs typeface="+mj-cs"/>
              </a:rPr>
              <a:t>(2)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08100"/>
            <a:ext cx="8128000" cy="21929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50" y="3740943"/>
            <a:ext cx="7378700" cy="27588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6C9BD4F1-D619-3851-6F6B-AB0169D423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사각형: 둥근 모서리 26">
            <a:extLst>
              <a:ext uri="{FF2B5EF4-FFF2-40B4-BE49-F238E27FC236}">
                <a16:creationId xmlns="" xmlns:a16="http://schemas.microsoft.com/office/drawing/2014/main" id="{5161CF2E-2E82-F0C2-3BB5-E345BE03D5C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2420094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0068"/>
              </p:ext>
            </p:extLst>
          </p:nvPr>
        </p:nvGraphicFramePr>
        <p:xfrm>
          <a:off x="450882" y="1268760"/>
          <a:ext cx="8242236" cy="4954434"/>
        </p:xfrm>
        <a:graphic>
          <a:graphicData uri="http://schemas.openxmlformats.org/drawingml/2006/table">
            <a:tbl>
              <a:tblPr/>
              <a:tblGrid>
                <a:gridCol w="82541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8965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941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적용내역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187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개발환경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App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Studio (1.2.2)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application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프로그램 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Beacon SDK</a:t>
                      </a:r>
                      <a:b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(RECO/Estimote SDK)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 신호를 탐지하고 처리하기 위해 사용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OS(5.0.1)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운영체제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 애플리케이션 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PHP(5.3.3)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 관리자 웹 페이지 처리 모듈 작성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MySQL(5.1.73)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 위치 정보를 포함하는 스마트 도서관 데이터를 저장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관리하는 데이터베이스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Apache(1.7.1)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관리자 웹 페이지를 구동하는 웹 서버 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　운영체제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리눅스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CentOS 6.6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Putty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서버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CentOS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원격 접속용 툴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0181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구성장비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디바이스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</a:t>
                      </a:r>
                      <a:b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아이폰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사용자에게 서비스를 직접적으로 제공하는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Device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Estimote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iBeacon, </a:t>
                      </a:r>
                      <a:r>
                        <a:rPr 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Reco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Beacon)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Region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정보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Mac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주소 등의 정보를 블루투스 신호를 이용해서 지속적으로 신호를 보내는 신호 발생기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블루투스 통신 어댑터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비콘과 스마트폰이 블루투스 통신하기 위한 하드웨어 모듈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무선 랜 어댑터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스마트폰과 웹서버 통신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서버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서버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 및 테스트를 위한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서버</a:t>
                      </a:r>
                      <a:b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(Server,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리눅스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유선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E2D95B93-8E57-69D6-1EAF-CE4027E5B4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="" xmlns:a16="http://schemas.microsoft.com/office/drawing/2014/main" id="{536C6CD6-14A2-A66D-1B2A-28F7B0FF07B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1" y="1812454"/>
            <a:ext cx="4258129" cy="27689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6" y="1884038"/>
            <a:ext cx="3501585" cy="269736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613C712-585A-6A81-6051-CA45D428E8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="" xmlns:a16="http://schemas.microsoft.com/office/drawing/2014/main" id="{7ED7DDAA-512C-AE38-C105-D98C8EB14B9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7" y="1935749"/>
            <a:ext cx="7899400" cy="36957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134D1951-0970-C946-192B-1D2DC3E778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="" xmlns:a16="http://schemas.microsoft.com/office/drawing/2014/main" id="{106648ED-6E0A-5A5B-8C12-73503C0D0653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sp>
        <p:nvSpPr>
          <p:cNvPr id="6" name="제목 12">
            <a:extLst>
              <a:ext uri="{FF2B5EF4-FFF2-40B4-BE49-F238E27FC236}">
                <a16:creationId xmlns="" xmlns:a16="http://schemas.microsoft.com/office/drawing/2014/main" id="{1272D076-AE47-8122-678B-40EF7EFB1779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3096344" cy="317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-H/W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883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동영상 촬영 콘티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3" y="3798060"/>
            <a:ext cx="5877702" cy="21512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8" y="1508629"/>
            <a:ext cx="5855816" cy="2157906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="" xmlns:a16="http://schemas.microsoft.com/office/drawing/2014/main" id="{07FB5EEE-7F8B-3078-7514-B48C62A2B6E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84AA108-BE40-F460-0090-8B5A7392B6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9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2793828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3131840" y="1468773"/>
            <a:ext cx="288032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6084168" y="1484784"/>
            <a:ext cx="2981592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49" y="1916832"/>
            <a:ext cx="2870229" cy="2529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7872" y="1516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/>
              <a:t>이슈관리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1988840"/>
            <a:ext cx="2808313" cy="23725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3848" y="14847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형상관리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972217"/>
            <a:ext cx="2692556" cy="23891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sp>
        <p:nvSpPr>
          <p:cNvPr id="24" name="사각형: 둥근 모서리 26">
            <a:extLst>
              <a:ext uri="{FF2B5EF4-FFF2-40B4-BE49-F238E27FC236}">
                <a16:creationId xmlns="" xmlns:a16="http://schemas.microsoft.com/office/drawing/2014/main" id="{14716910-CA38-D544-BF32-E0578F65AE19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8FA6925B-16C0-501C-E382-CBADE9CAB4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71600" y="6453336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EA9A6414-10A6-057B-B1C7-BC0E3BBC55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1765</Words>
  <Application>Microsoft Office PowerPoint</Application>
  <PresentationFormat>화면 슬라이드 쇼(4:3)</PresentationFormat>
  <Paragraphs>517</Paragraphs>
  <Slides>35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SAMSUNG</cp:lastModifiedBy>
  <cp:revision>282</cp:revision>
  <dcterms:created xsi:type="dcterms:W3CDTF">2014-04-16T00:55:54Z</dcterms:created>
  <dcterms:modified xsi:type="dcterms:W3CDTF">2026-07-02T01:08:09Z</dcterms:modified>
</cp:coreProperties>
</file>